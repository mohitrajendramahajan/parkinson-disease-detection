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2" r:id="rId2"/>
    <p:sldId id="2563" r:id="rId3"/>
    <p:sldId id="2564" r:id="rId4"/>
    <p:sldId id="2565" r:id="rId5"/>
    <p:sldId id="25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kinson’s Disease Prediction Using Voice Data" id="{E43FAC70-092C-47BA-806F-0F1BD195DFFB}">
          <p14:sldIdLst/>
        </p14:section>
        <p14:section name="Parkinson’s Disease Prediction Model" id="{8C64248D-DED9-4A76-8910-DD6E8CD53795}">
          <p14:sldIdLst>
            <p14:sldId id="2562"/>
            <p14:sldId id="2563"/>
            <p14:sldId id="2564"/>
            <p14:sldId id="2565"/>
            <p14:sldId id="25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2E332-9D20-419D-BE4B-68AB60278602}" type="datetimeFigureOut">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69AFA9-BF07-4D5C-9674-F73A2E35EA6E}" type="slidenum">
              <a:t>‹#›</a:t>
            </a:fld>
            <a:endParaRPr lang="en-US"/>
          </a:p>
        </p:txBody>
      </p:sp>
    </p:spTree>
    <p:extLst>
      <p:ext uri="{BB962C8B-B14F-4D97-AF65-F5344CB8AC3E}">
        <p14:creationId xmlns:p14="http://schemas.microsoft.com/office/powerpoint/2010/main" val="1181516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https://vistulaedu-my.sharepoint.com/personal/mrajend1_stu_vistula_edu_pl/_layouts/15/Doc.aspx?sourcedoc=%7B9AE08DA5-CBF5-4AB1-B2E8-2F230A2E0BFC%7D&amp;file=Parkinson%20Report.docx&amp;action=default&amp;mobileredirect=true
Title and Project Overview, Introduction and Problem Statement, Methodology and Modeling Approach, Results and Conclusion
</a:t>
            </a:r>
          </a:p>
        </p:txBody>
      </p:sp>
      <p:sp>
        <p:nvSpPr>
          <p:cNvPr id="4" name="Slide Number Placeholder 3"/>
          <p:cNvSpPr>
            <a:spLocks noGrp="1"/>
          </p:cNvSpPr>
          <p:nvPr>
            <p:ph type="sldNum" sz="quarter" idx="5"/>
          </p:nvPr>
        </p:nvSpPr>
        <p:spPr/>
        <p:txBody>
          <a:bodyPr/>
          <a:lstStyle/>
          <a:p>
            <a:fld id="{7F6BF3EE-712C-4A4F-B244-C1A3D9AB01A3}" type="slidenum">
              <a:t>1</a:t>
            </a:fld>
            <a:endParaRPr lang="en-US"/>
          </a:p>
        </p:txBody>
      </p:sp>
    </p:spTree>
    <p:extLst>
      <p:ext uri="{BB962C8B-B14F-4D97-AF65-F5344CB8AC3E}">
        <p14:creationId xmlns:p14="http://schemas.microsoft.com/office/powerpoint/2010/main" val="1506413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https://vistulaedu-my.sharepoint.com/personal/mrajend1_stu_vistula_edu_pl/_layouts/15/Doc.aspx?sourcedoc=%7B9AE08DA5-CBF5-4AB1-B2E8-2F230A2E0BFC%7D&amp;file=Parkinson%20Report.docx&amp;action=default&amp;mobileredirect=true
This presentation introduces a Parkinson’s disease prediction project developed using data analytics and machine learning techniques in SAS. Parkinson’s disease is a progressive neurological disorder that mainly affects movement, speech, and motor coordination. Because the disease develops gradually, early diagnosis is often difficult, yet extremely important for improving treatment outcomes and quality of life. The motivation behind this project is to demonstrate how biomedical voice measurements, combined with statistical modeling, can help in identifying early signs of Parkinson’s disease. The project was carried out as part of a Big Data Analytics course and follows a structured analytics pipeline, beginning with data import and cleaning and ending with model evaluation and prediction. The dataset used in this study contains real-world voice features such as frequency variation, jitter, shimmer, and noise-related measures, which are known to reflect vocal instability, a common symptom of Parkinson’s disease. The target variable in the dataset is binary, where a value of 1 indicates a Parkinson’s patient and 0 represents a healthy individual. This slide sets the context for the project by clearly stating the problem being addressed, the analytical approach used, and the overall goal of building a reliable prediction model that can support early diagnosis in healthcare settings.
</a:t>
            </a:r>
          </a:p>
        </p:txBody>
      </p:sp>
      <p:sp>
        <p:nvSpPr>
          <p:cNvPr id="4" name="Slide Number Placeholder 3"/>
          <p:cNvSpPr>
            <a:spLocks noGrp="1"/>
          </p:cNvSpPr>
          <p:nvPr>
            <p:ph type="sldNum" sz="quarter" idx="5"/>
          </p:nvPr>
        </p:nvSpPr>
        <p:spPr/>
        <p:txBody>
          <a:bodyPr/>
          <a:lstStyle/>
          <a:p>
            <a:fld id="{7F6BF3EE-712C-4A4F-B244-C1A3D9AB01A3}" type="slidenum">
              <a:t>2</a:t>
            </a:fld>
            <a:endParaRPr lang="en-US"/>
          </a:p>
        </p:txBody>
      </p:sp>
    </p:spTree>
    <p:extLst>
      <p:ext uri="{BB962C8B-B14F-4D97-AF65-F5344CB8AC3E}">
        <p14:creationId xmlns:p14="http://schemas.microsoft.com/office/powerpoint/2010/main" val="687177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https://vistulaedu-my.sharepoint.com/personal/mrajend1_stu_vistula_edu_pl/_layouts/15/Doc.aspx?sourcedoc=%7B9AE08DA5-CBF5-4AB1-B2E8-2F230A2E0BFC%7D&amp;file=Parkinson%20Report.docx&amp;action=default&amp;mobileredirect=true
Parkinson’s disease impacts millions of people worldwide and is characterized by symptoms such as tremors, stiffness, slow movement, and speech difficulties. Traditional diagnosis often relies on clinical observation, which can be subjective and may miss early-stage symptoms. This project addresses that challenge by using data-driven methods to assist in detection. The core idea is that changes in a person’s voice can act as an early indicator of Parkinson’s disease, as the condition affects muscle control involved in speech production. By analyzing voice-based features, it is possible to identify subtle patterns that are not easily noticeable through manual examination. The problem statement of this project is to accurately classify individuals as either healthy or affected by Parkinson’s disease using these voice measurements. To solve this problem, the project applies machine learning concepts such as feature engineering, normalization, and logistic regression. Emphasis is placed on building a transparent and interpretable model rather than a black-box approach, making the results easier to understand and explain in a healthcare context. This slide highlights why early detection matters, what gap the project aims to fill, and how analytics can support medical decision-making.
</a:t>
            </a:r>
          </a:p>
        </p:txBody>
      </p:sp>
      <p:sp>
        <p:nvSpPr>
          <p:cNvPr id="4" name="Slide Number Placeholder 3"/>
          <p:cNvSpPr>
            <a:spLocks noGrp="1"/>
          </p:cNvSpPr>
          <p:nvPr>
            <p:ph type="sldNum" sz="quarter" idx="5"/>
          </p:nvPr>
        </p:nvSpPr>
        <p:spPr/>
        <p:txBody>
          <a:bodyPr/>
          <a:lstStyle/>
          <a:p>
            <a:fld id="{7F6BF3EE-712C-4A4F-B244-C1A3D9AB01A3}" type="slidenum">
              <a:t>3</a:t>
            </a:fld>
            <a:endParaRPr lang="en-US"/>
          </a:p>
        </p:txBody>
      </p:sp>
    </p:spTree>
    <p:extLst>
      <p:ext uri="{BB962C8B-B14F-4D97-AF65-F5344CB8AC3E}">
        <p14:creationId xmlns:p14="http://schemas.microsoft.com/office/powerpoint/2010/main" val="2780947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https://vistulaedu-my.sharepoint.com/personal/mrajend1_stu_vistula_edu_pl/_layouts/15/Doc.aspx?sourcedoc=%7B9AE08DA5-CBF5-4AB1-B2E8-2F230A2E0BFC%7D&amp;file=Parkinson%20Report.docx&amp;action=default&amp;mobileredirect=true
The methodology of this project follows a complete and systematic analytics workflow implemented in SAS. It begins with importing the Parkinson’s dataset and performing data cleaning to remove missing or invalid observations. Variable renaming is carried out to improve readability and avoid technical issues caused by special characters. Feature engineering plays a key role, particularly through binning of continuous variables and applying Weight of Evidence (WOE) transformation, which helps capture the relationship between predictors and the target variable. Min–max normalization is then applied to ensure all numerical features are on a comparable scale. The dataset is split into training and testing sets using an 80–20 ratio to evaluate how well the model generalizes to unseen data. To further improve reliability, k-fold cross-validation is used on the training data, reducing the risk of overfitting. Logistic regression is selected as the final modeling technique because it is well-suited for binary classification problems and provides interpretable coefficients. This structured approach ensures that the model is both statistically sound and practically meaningful.
</a:t>
            </a:r>
          </a:p>
        </p:txBody>
      </p:sp>
      <p:sp>
        <p:nvSpPr>
          <p:cNvPr id="4" name="Slide Number Placeholder 3"/>
          <p:cNvSpPr>
            <a:spLocks noGrp="1"/>
          </p:cNvSpPr>
          <p:nvPr>
            <p:ph type="sldNum" sz="quarter" idx="5"/>
          </p:nvPr>
        </p:nvSpPr>
        <p:spPr/>
        <p:txBody>
          <a:bodyPr/>
          <a:lstStyle/>
          <a:p>
            <a:fld id="{7F6BF3EE-712C-4A4F-B244-C1A3D9AB01A3}" type="slidenum">
              <a:t>4</a:t>
            </a:fld>
            <a:endParaRPr lang="en-US"/>
          </a:p>
        </p:txBody>
      </p:sp>
    </p:spTree>
    <p:extLst>
      <p:ext uri="{BB962C8B-B14F-4D97-AF65-F5344CB8AC3E}">
        <p14:creationId xmlns:p14="http://schemas.microsoft.com/office/powerpoint/2010/main" val="1848667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https://vistulaedu-my.sharepoint.com/personal/mrajend1_stu_vistula_edu_pl/_layouts/15/Doc.aspx?sourcedoc=%7B9AE08DA5-CBF5-4AB1-B2E8-2F230A2E0BFC%7D&amp;file=Parkinson%20Report.docx&amp;action=default&amp;mobileredirect=true
The results of the Parkinson’s disease prediction model show that voice-based features can effectively distinguish between healthy individuals and patients. Model performance is evaluated using standard classification metrics, including accuracy, precision, recall, F1 score, and the ROC–AUC curve. The confusion matrix provides insight into true positives, true negatives, false positives, and false negatives, helping to assess real-world usability. The ROC curve demonstrates a strong trade-off between sensitivity and specificity, and an AUC value closer to 1 indicates good predictive performance. In addition to evaluation on test data, the model is also applied to a new patient case to demonstrate how it can be used in practice. Overall, the project concludes that combining biomedical voice data with logistic regression in SAS offers a reliable and interpretable solution for early Parkinson’s disease detection. This approach can support healthcare professionals by acting as a decision-support tool and highlights the value of data analytics in medical diagnostics.
</a:t>
            </a:r>
          </a:p>
        </p:txBody>
      </p:sp>
      <p:sp>
        <p:nvSpPr>
          <p:cNvPr id="4" name="Slide Number Placeholder 3"/>
          <p:cNvSpPr>
            <a:spLocks noGrp="1"/>
          </p:cNvSpPr>
          <p:nvPr>
            <p:ph type="sldNum" sz="quarter" idx="5"/>
          </p:nvPr>
        </p:nvSpPr>
        <p:spPr/>
        <p:txBody>
          <a:bodyPr/>
          <a:lstStyle/>
          <a:p>
            <a:fld id="{7F6BF3EE-712C-4A4F-B244-C1A3D9AB01A3}" type="slidenum">
              <a:t>5</a:t>
            </a:fld>
            <a:endParaRPr lang="en-US"/>
          </a:p>
        </p:txBody>
      </p:sp>
    </p:spTree>
    <p:extLst>
      <p:ext uri="{BB962C8B-B14F-4D97-AF65-F5344CB8AC3E}">
        <p14:creationId xmlns:p14="http://schemas.microsoft.com/office/powerpoint/2010/main" val="2951705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4023433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621257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598990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3578378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698435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732197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453885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7195027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634086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860627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14151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1255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324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8130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59105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15799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00883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05030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963204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1321440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597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553869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9789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482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0503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7117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4548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438532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016510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78807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9750971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62685820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266470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988682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07239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9586957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30349798"/>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15143683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80458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51125217"/>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96527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179437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261962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92581375"/>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8798611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51467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335318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89146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162814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224264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23703654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87946775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62384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93422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01565-6D4D-29DF-21D8-0DC84B374B75}"/>
              </a:ext>
            </a:extLst>
          </p:cNvPr>
          <p:cNvSpPr>
            <a:spLocks noGrp="1"/>
          </p:cNvSpPr>
          <p:nvPr>
            <p:ph type="ctrTitle"/>
          </p:nvPr>
        </p:nvSpPr>
        <p:spPr/>
        <p:txBody>
          <a:bodyPr/>
          <a:lstStyle/>
          <a:p>
            <a:r>
              <a:rPr lang="en-US"/>
              <a:t>Parkinson’s Disease Prediction Model</a:t>
            </a:r>
          </a:p>
        </p:txBody>
      </p:sp>
    </p:spTree>
    <p:extLst>
      <p:ext uri="{BB962C8B-B14F-4D97-AF65-F5344CB8AC3E}">
        <p14:creationId xmlns:p14="http://schemas.microsoft.com/office/powerpoint/2010/main" val="613287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20D-490E-D40B-72B1-E68DB12DEB54}"/>
              </a:ext>
            </a:extLst>
          </p:cNvPr>
          <p:cNvSpPr>
            <a:spLocks noGrp="1"/>
          </p:cNvSpPr>
          <p:nvPr>
            <p:ph type="title"/>
          </p:nvPr>
        </p:nvSpPr>
        <p:spPr/>
        <p:txBody>
          <a:bodyPr/>
          <a:lstStyle/>
          <a:p>
            <a:pPr algn="ctr"/>
            <a:r>
              <a:rPr lang="en-US" dirty="0"/>
              <a:t>Project Overview</a:t>
            </a:r>
          </a:p>
        </p:txBody>
      </p:sp>
      <p:pic>
        <p:nvPicPr>
          <p:cNvPr id="5" name="Content Placeholder 4" descr="hand touching waving technology">
            <a:extLst>
              <a:ext uri="{FF2B5EF4-FFF2-40B4-BE49-F238E27FC236}">
                <a16:creationId xmlns:a16="http://schemas.microsoft.com/office/drawing/2014/main" id="{DEDF1AC7-D295-47D6-A762-E4DDA045CE90}"/>
              </a:ext>
            </a:extLst>
          </p:cNvPr>
          <p:cNvPicPr>
            <a:picLocks noGrp="1" noChangeAspect="1"/>
          </p:cNvPicPr>
          <p:nvPr>
            <p:ph sz="quarter" idx="15"/>
          </p:nvPr>
        </p:nvPicPr>
        <p:blipFill>
          <a:blip r:embed="rId3"/>
          <a:stretch>
            <a:fillRect/>
          </a:stretch>
        </p:blipFill>
        <p:spPr>
          <a:xfrm>
            <a:off x="612775" y="2573883"/>
            <a:ext cx="5075238" cy="2854821"/>
          </a:xfrm>
          <a:prstGeom prst="rect">
            <a:avLst/>
          </a:prstGeom>
        </p:spPr>
      </p:pic>
      <p:sp>
        <p:nvSpPr>
          <p:cNvPr id="4" name="Content Placeholder 3">
            <a:extLst>
              <a:ext uri="{FF2B5EF4-FFF2-40B4-BE49-F238E27FC236}">
                <a16:creationId xmlns:a16="http://schemas.microsoft.com/office/drawing/2014/main" id="{09FB7AFE-91CD-962A-0DFB-311D7E80C5DD}"/>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US"/>
              <a:t>Parkinson’s Disease Overview</a:t>
            </a:r>
          </a:p>
          <a:p>
            <a:pPr marL="742950" lvl="1" indent="-285750">
              <a:buFont typeface="Arial" panose="020B0604020202020204" pitchFamily="34" charset="0"/>
              <a:buChar char="•"/>
            </a:pPr>
            <a:r>
              <a:rPr lang="en-US"/>
              <a:t>A progressive neurological disorder affecting movement, speech, and motor coordination requiring early diagnosis.</a:t>
            </a:r>
          </a:p>
          <a:p>
            <a:pPr>
              <a:buFont typeface="Arial" panose="020B0604020202020204" pitchFamily="34" charset="0"/>
              <a:buChar char="•"/>
            </a:pPr>
            <a:r>
              <a:rPr lang="en-US"/>
              <a:t>Analytical Approach</a:t>
            </a:r>
          </a:p>
          <a:p>
            <a:pPr marL="742950" lvl="1" indent="-285750">
              <a:buFont typeface="Arial" panose="020B0604020202020204" pitchFamily="34" charset="0"/>
              <a:buChar char="•"/>
            </a:pPr>
            <a:r>
              <a:rPr lang="en-US"/>
              <a:t>Use of data analytics and machine learning in SAS following a structured pipeline from data import to model evaluation.</a:t>
            </a:r>
          </a:p>
          <a:p>
            <a:pPr>
              <a:buFont typeface="Arial" panose="020B0604020202020204" pitchFamily="34" charset="0"/>
              <a:buChar char="•"/>
            </a:pPr>
            <a:r>
              <a:rPr lang="en-US"/>
              <a:t>Voice Feature Dataset</a:t>
            </a:r>
          </a:p>
          <a:p>
            <a:pPr marL="742950" lvl="1" indent="-285750">
              <a:buFont typeface="Arial" panose="020B0604020202020204" pitchFamily="34" charset="0"/>
              <a:buChar char="•"/>
            </a:pPr>
            <a:r>
              <a:rPr lang="en-US"/>
              <a:t>Dataset includes voice measurements like frequency variation, jitter, shimmer showing vocal instability linked to Parkinson’s.</a:t>
            </a:r>
          </a:p>
          <a:p>
            <a:pPr>
              <a:buFont typeface="Arial" panose="020B0604020202020204" pitchFamily="34" charset="0"/>
              <a:buChar char="•"/>
            </a:pPr>
            <a:r>
              <a:rPr lang="en-US"/>
              <a:t>Project Goal</a:t>
            </a:r>
          </a:p>
          <a:p>
            <a:pPr marL="742950" lvl="1" indent="-285750">
              <a:buFont typeface="Arial" panose="020B0604020202020204" pitchFamily="34" charset="0"/>
              <a:buChar char="•"/>
            </a:pPr>
            <a:r>
              <a:rPr lang="en-US"/>
              <a:t>Build a reliable prediction model to support early Parkinson’s diagnosis and improve healthcare outcomes.</a:t>
            </a:r>
          </a:p>
        </p:txBody>
      </p:sp>
    </p:spTree>
    <p:extLst>
      <p:ext uri="{BB962C8B-B14F-4D97-AF65-F5344CB8AC3E}">
        <p14:creationId xmlns:p14="http://schemas.microsoft.com/office/powerpoint/2010/main" val="298331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2EAAD-7A87-AEE2-2528-7A57930C125B}"/>
              </a:ext>
            </a:extLst>
          </p:cNvPr>
          <p:cNvSpPr>
            <a:spLocks noGrp="1"/>
          </p:cNvSpPr>
          <p:nvPr>
            <p:ph type="title"/>
          </p:nvPr>
        </p:nvSpPr>
        <p:spPr/>
        <p:txBody>
          <a:bodyPr/>
          <a:lstStyle/>
          <a:p>
            <a:r>
              <a:rPr lang="en-US"/>
              <a:t>Introduction and Problem Statement</a:t>
            </a:r>
          </a:p>
        </p:txBody>
      </p:sp>
      <p:pic>
        <p:nvPicPr>
          <p:cNvPr id="5" name="Content Placeholder 4" descr="Sound wave isolated on white background">
            <a:extLst>
              <a:ext uri="{FF2B5EF4-FFF2-40B4-BE49-F238E27FC236}">
                <a16:creationId xmlns:a16="http://schemas.microsoft.com/office/drawing/2014/main" id="{00D4678D-63AE-4142-8780-8D36DCD810D3}"/>
              </a:ext>
            </a:extLst>
          </p:cNvPr>
          <p:cNvPicPr>
            <a:picLocks noGrp="1" noChangeAspect="1"/>
          </p:cNvPicPr>
          <p:nvPr>
            <p:ph sz="quarter" idx="15"/>
          </p:nvPr>
        </p:nvPicPr>
        <p:blipFill>
          <a:blip r:embed="rId3"/>
          <a:stretch>
            <a:fillRect/>
          </a:stretch>
        </p:blipFill>
        <p:spPr>
          <a:xfrm>
            <a:off x="612775" y="2680443"/>
            <a:ext cx="5075238" cy="2641701"/>
          </a:xfrm>
          <a:prstGeom prst="rect">
            <a:avLst/>
          </a:prstGeom>
        </p:spPr>
      </p:pic>
      <p:sp>
        <p:nvSpPr>
          <p:cNvPr id="4" name="Content Placeholder 3">
            <a:extLst>
              <a:ext uri="{FF2B5EF4-FFF2-40B4-BE49-F238E27FC236}">
                <a16:creationId xmlns:a16="http://schemas.microsoft.com/office/drawing/2014/main" id="{0CF7C05F-0B44-D705-DF25-7F728A4238D6}"/>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US"/>
              <a:t>Parkinson’s Disease Symptoms</a:t>
            </a:r>
          </a:p>
          <a:p>
            <a:pPr marL="742950" lvl="1" indent="-285750">
              <a:buFont typeface="Arial" panose="020B0604020202020204" pitchFamily="34" charset="0"/>
              <a:buChar char="•"/>
            </a:pPr>
            <a:r>
              <a:rPr lang="en-US"/>
              <a:t>Parkinson’s disease causes tremors, stiffness, slow movement, and speech difficulties affecting millions worldwide.</a:t>
            </a:r>
          </a:p>
          <a:p>
            <a:pPr>
              <a:buFont typeface="Arial" panose="020B0604020202020204" pitchFamily="34" charset="0"/>
              <a:buChar char="•"/>
            </a:pPr>
            <a:r>
              <a:rPr lang="en-US"/>
              <a:t>Limitations of Traditional Diagnosis</a:t>
            </a:r>
          </a:p>
          <a:p>
            <a:pPr marL="742950" lvl="1" indent="-285750">
              <a:buFont typeface="Arial" panose="020B0604020202020204" pitchFamily="34" charset="0"/>
              <a:buChar char="•"/>
            </a:pPr>
            <a:r>
              <a:rPr lang="en-US"/>
              <a:t>Traditional diagnosis relies on subjective clinical observation and may miss early-stage Parkinson’s symptoms.</a:t>
            </a:r>
          </a:p>
          <a:p>
            <a:pPr>
              <a:buFont typeface="Arial" panose="020B0604020202020204" pitchFamily="34" charset="0"/>
              <a:buChar char="•"/>
            </a:pPr>
            <a:r>
              <a:rPr lang="en-US"/>
              <a:t>Voice-Based Early Detection</a:t>
            </a:r>
          </a:p>
          <a:p>
            <a:pPr marL="742950" lvl="1" indent="-285750">
              <a:buFont typeface="Arial" panose="020B0604020202020204" pitchFamily="34" charset="0"/>
              <a:buChar char="•"/>
            </a:pPr>
            <a:r>
              <a:rPr lang="en-US"/>
              <a:t>Voice changes serve as early indicators by analyzing subtle speech patterns affected by Parkinson’s muscle control.</a:t>
            </a:r>
          </a:p>
          <a:p>
            <a:pPr>
              <a:buFont typeface="Arial" panose="020B0604020202020204" pitchFamily="34" charset="0"/>
              <a:buChar char="•"/>
            </a:pPr>
            <a:r>
              <a:rPr lang="en-US"/>
              <a:t>Machine Learning Approach</a:t>
            </a:r>
          </a:p>
          <a:p>
            <a:pPr marL="742950" lvl="1" indent="-285750">
              <a:buFont typeface="Arial" panose="020B0604020202020204" pitchFamily="34" charset="0"/>
              <a:buChar char="•"/>
            </a:pPr>
            <a:r>
              <a:rPr lang="en-US"/>
              <a:t>Using feature engineering, normalization, and logistic regression to build an interpretable model for classification.</a:t>
            </a:r>
          </a:p>
        </p:txBody>
      </p:sp>
    </p:spTree>
    <p:extLst>
      <p:ext uri="{BB962C8B-B14F-4D97-AF65-F5344CB8AC3E}">
        <p14:creationId xmlns:p14="http://schemas.microsoft.com/office/powerpoint/2010/main" val="409796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055ED-99B2-D1DC-CD26-744769375B28}"/>
              </a:ext>
            </a:extLst>
          </p:cNvPr>
          <p:cNvSpPr>
            <a:spLocks noGrp="1"/>
          </p:cNvSpPr>
          <p:nvPr>
            <p:ph type="title"/>
          </p:nvPr>
        </p:nvSpPr>
        <p:spPr/>
        <p:txBody>
          <a:bodyPr/>
          <a:lstStyle/>
          <a:p>
            <a:r>
              <a:rPr lang="en-US"/>
              <a:t>Methodology and Modeling Approach</a:t>
            </a:r>
          </a:p>
        </p:txBody>
      </p:sp>
      <p:pic>
        <p:nvPicPr>
          <p:cNvPr id="5" name="Content Placeholder 4" descr="Cloud computing concept isolated on white background">
            <a:extLst>
              <a:ext uri="{FF2B5EF4-FFF2-40B4-BE49-F238E27FC236}">
                <a16:creationId xmlns:a16="http://schemas.microsoft.com/office/drawing/2014/main" id="{5A77B567-DF0A-4BD3-BED4-E5D421EEB518}"/>
              </a:ext>
            </a:extLst>
          </p:cNvPr>
          <p:cNvPicPr>
            <a:picLocks noGrp="1" noChangeAspect="1"/>
          </p:cNvPicPr>
          <p:nvPr>
            <p:ph sz="quarter" idx="15"/>
          </p:nvPr>
        </p:nvPicPr>
        <p:blipFill>
          <a:blip r:embed="rId3"/>
          <a:stretch>
            <a:fillRect/>
          </a:stretch>
        </p:blipFill>
        <p:spPr>
          <a:xfrm>
            <a:off x="612775" y="2098080"/>
            <a:ext cx="5075238" cy="3806428"/>
          </a:xfrm>
          <a:prstGeom prst="rect">
            <a:avLst/>
          </a:prstGeom>
        </p:spPr>
      </p:pic>
      <p:sp>
        <p:nvSpPr>
          <p:cNvPr id="4" name="Content Placeholder 3">
            <a:extLst>
              <a:ext uri="{FF2B5EF4-FFF2-40B4-BE49-F238E27FC236}">
                <a16:creationId xmlns:a16="http://schemas.microsoft.com/office/drawing/2014/main" id="{D69301A7-10D4-48D4-FC4B-63466F34C67E}"/>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US"/>
              <a:t>Data Preparation and Cleaning</a:t>
            </a:r>
          </a:p>
          <a:p>
            <a:pPr marL="742950" lvl="1" indent="-285750">
              <a:buFont typeface="Arial" panose="020B0604020202020204" pitchFamily="34" charset="0"/>
              <a:buChar char="•"/>
            </a:pPr>
            <a:r>
              <a:rPr lang="en-US"/>
              <a:t>The process starts with importing data and cleaning to remove missing or invalid observations for accuracy.</a:t>
            </a:r>
          </a:p>
          <a:p>
            <a:pPr>
              <a:buFont typeface="Arial" panose="020B0604020202020204" pitchFamily="34" charset="0"/>
              <a:buChar char="•"/>
            </a:pPr>
            <a:r>
              <a:rPr lang="en-US"/>
              <a:t>Feature Engineering and Transformation</a:t>
            </a:r>
          </a:p>
          <a:p>
            <a:pPr marL="742950" lvl="1" indent="-285750">
              <a:buFont typeface="Arial" panose="020B0604020202020204" pitchFamily="34" charset="0"/>
              <a:buChar char="•"/>
            </a:pPr>
            <a:r>
              <a:rPr lang="en-US"/>
              <a:t>Feature engineering includes binning and Weight of Evidence transformation to enhance predictor-target relationships.</a:t>
            </a:r>
          </a:p>
          <a:p>
            <a:pPr>
              <a:buFont typeface="Arial" panose="020B0604020202020204" pitchFamily="34" charset="0"/>
              <a:buChar char="•"/>
            </a:pPr>
            <a:r>
              <a:rPr lang="en-US"/>
              <a:t>Normalization and Data Splitting</a:t>
            </a:r>
          </a:p>
          <a:p>
            <a:pPr marL="742950" lvl="1" indent="-285750">
              <a:buFont typeface="Arial" panose="020B0604020202020204" pitchFamily="34" charset="0"/>
              <a:buChar char="•"/>
            </a:pPr>
            <a:r>
              <a:rPr lang="en-US"/>
              <a:t>Min–max normalization scales numerical features; dataset split into training and testing sets using 80–20 ratio.</a:t>
            </a:r>
          </a:p>
          <a:p>
            <a:pPr>
              <a:buFont typeface="Arial" panose="020B0604020202020204" pitchFamily="34" charset="0"/>
              <a:buChar char="•"/>
            </a:pPr>
            <a:r>
              <a:rPr lang="en-US"/>
              <a:t>Modeling and Validation</a:t>
            </a:r>
          </a:p>
          <a:p>
            <a:pPr marL="742950" lvl="1" indent="-285750">
              <a:buFont typeface="Arial" panose="020B0604020202020204" pitchFamily="34" charset="0"/>
              <a:buChar char="•"/>
            </a:pPr>
            <a:r>
              <a:rPr lang="en-US"/>
              <a:t>Logistic regression is used with k-fold cross-validation to ensure model reliability and interpretability.</a:t>
            </a:r>
          </a:p>
        </p:txBody>
      </p:sp>
    </p:spTree>
    <p:extLst>
      <p:ext uri="{BB962C8B-B14F-4D97-AF65-F5344CB8AC3E}">
        <p14:creationId xmlns:p14="http://schemas.microsoft.com/office/powerpoint/2010/main" val="711357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70B3-2EE0-DAE2-AF39-2A30230D1AEF}"/>
              </a:ext>
            </a:extLst>
          </p:cNvPr>
          <p:cNvSpPr>
            <a:spLocks noGrp="1"/>
          </p:cNvSpPr>
          <p:nvPr>
            <p:ph type="title"/>
          </p:nvPr>
        </p:nvSpPr>
        <p:spPr>
          <a:xfrm>
            <a:off x="612647" y="709099"/>
            <a:ext cx="3956305" cy="891101"/>
          </a:xfrm>
        </p:spPr>
        <p:txBody>
          <a:bodyPr anchor="b">
            <a:normAutofit/>
          </a:bodyPr>
          <a:lstStyle/>
          <a:p>
            <a:r>
              <a:rPr lang="en-US"/>
              <a:t>Results and Conclusion</a:t>
            </a:r>
          </a:p>
        </p:txBody>
      </p:sp>
      <p:pic>
        <p:nvPicPr>
          <p:cNvPr id="5" name="Content Placeholder 4"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96CC4593-92AF-4B4B-AF23-5D59EE88ADFF}"/>
              </a:ext>
            </a:extLst>
          </p:cNvPr>
          <p:cNvPicPr>
            <a:picLocks noGrp="1" noChangeAspect="1"/>
          </p:cNvPicPr>
          <p:nvPr>
            <p:ph type="pic" sz="quarter" idx="15"/>
          </p:nvPr>
        </p:nvPicPr>
        <p:blipFill>
          <a:blip r:embed="rId3"/>
          <a:srcRect l="14987" r="19325" b="1"/>
          <a:stretch>
            <a:fillRect/>
          </a:stretch>
        </p:blipFill>
        <p:spPr>
          <a:xfrm>
            <a:off x="986599" y="2480792"/>
            <a:ext cx="4224528" cy="3392424"/>
          </a:xfrm>
        </p:spPr>
      </p:pic>
      <p:sp>
        <p:nvSpPr>
          <p:cNvPr id="4" name="Content Placeholder 3">
            <a:extLst>
              <a:ext uri="{FF2B5EF4-FFF2-40B4-BE49-F238E27FC236}">
                <a16:creationId xmlns:a16="http://schemas.microsoft.com/office/drawing/2014/main" id="{629E3E68-AD03-FA41-95AA-20E5B94482C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Model Performance Metrics</a:t>
            </a:r>
          </a:p>
          <a:p>
            <a:pPr marL="0" lvl="1" indent="0">
              <a:buFont typeface="Arial" panose="020B0604020202020204" pitchFamily="34" charset="0"/>
              <a:buNone/>
            </a:pPr>
            <a:r>
              <a:rPr lang="en-US"/>
              <a:t>Evaluation uses accuracy, precision, recall, F1 score, and ROC-AUC to measure model effectiveness.</a:t>
            </a:r>
          </a:p>
          <a:p>
            <a:pPr marL="0" indent="0">
              <a:spcBef>
                <a:spcPts val="2500"/>
              </a:spcBef>
              <a:buFont typeface="Arial" panose="020B0604020202020204" pitchFamily="34" charset="0"/>
              <a:buNone/>
            </a:pPr>
            <a:r>
              <a:rPr lang="en-US" b="1"/>
              <a:t>Confusion Matrix Insights</a:t>
            </a:r>
          </a:p>
          <a:p>
            <a:pPr marL="0" lvl="1" indent="0">
              <a:buFont typeface="Arial" panose="020B0604020202020204" pitchFamily="34" charset="0"/>
              <a:buNone/>
            </a:pPr>
            <a:r>
              <a:rPr lang="en-US"/>
              <a:t>Confusion matrix helps analyze true and false positives and negatives for real-world assessment.</a:t>
            </a:r>
          </a:p>
          <a:p>
            <a:pPr marL="0" indent="0">
              <a:spcBef>
                <a:spcPts val="2500"/>
              </a:spcBef>
              <a:buFont typeface="Arial" panose="020B0604020202020204" pitchFamily="34" charset="0"/>
              <a:buNone/>
            </a:pPr>
            <a:r>
              <a:rPr lang="en-US" b="1"/>
              <a:t>Practical Application</a:t>
            </a:r>
          </a:p>
          <a:p>
            <a:pPr marL="0" lvl="1" indent="0">
              <a:buFont typeface="Arial" panose="020B0604020202020204" pitchFamily="34" charset="0"/>
              <a:buNone/>
            </a:pPr>
            <a:r>
              <a:rPr lang="en-US"/>
              <a:t>Model tested on new patient data demonstrating practical use in early disease detection.</a:t>
            </a:r>
          </a:p>
          <a:p>
            <a:pPr marL="0" indent="0">
              <a:spcBef>
                <a:spcPts val="2500"/>
              </a:spcBef>
              <a:buFont typeface="Arial" panose="020B0604020202020204" pitchFamily="34" charset="0"/>
              <a:buNone/>
            </a:pPr>
            <a:r>
              <a:rPr lang="en-US" b="1"/>
              <a:t>Conclusion and Impact</a:t>
            </a:r>
          </a:p>
          <a:p>
            <a:pPr marL="0" lvl="1" indent="0">
              <a:buFont typeface="Arial" panose="020B0604020202020204" pitchFamily="34" charset="0"/>
              <a:buNone/>
            </a:pPr>
            <a:r>
              <a:rPr lang="en-US"/>
              <a:t>Combining voice data with logistic regression offers a reliable tool for early Parkinson’s detection supporting healthcare decisions.</a:t>
            </a:r>
          </a:p>
        </p:txBody>
      </p:sp>
    </p:spTree>
    <p:extLst>
      <p:ext uri="{BB962C8B-B14F-4D97-AF65-F5344CB8AC3E}">
        <p14:creationId xmlns:p14="http://schemas.microsoft.com/office/powerpoint/2010/main" val="41992341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1473</Words>
  <Application>Microsoft Office PowerPoint</Application>
  <PresentationFormat>Widescreen</PresentationFormat>
  <Paragraphs>47</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Batang</vt:lpstr>
      <vt:lpstr>Arial</vt:lpstr>
      <vt:lpstr>Avenir Next LT Pro Light</vt:lpstr>
      <vt:lpstr>Calibri</vt:lpstr>
      <vt:lpstr>Solace</vt:lpstr>
      <vt:lpstr>Parkinson’s Disease Prediction Model</vt:lpstr>
      <vt:lpstr>Project Overview</vt:lpstr>
      <vt:lpstr>Introduction and Problem Statement</vt:lpstr>
      <vt:lpstr>Methodology and Modeling Approach</vt:lpstr>
      <vt:lpstr>Results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mrajend1@stu.vistula.edu.pl</dc:creator>
  <cp:lastModifiedBy>Mohit Rajendra Mahajan</cp:lastModifiedBy>
  <cp:revision>1</cp:revision>
  <dcterms:modified xsi:type="dcterms:W3CDTF">2026-06-08T16:43:01Z</dcterms:modified>
</cp:coreProperties>
</file>